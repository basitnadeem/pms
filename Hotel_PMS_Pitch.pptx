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459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/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PMS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manager-first operating system for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hotels in Pakistan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8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Hunza   /   Skardu   /   Naran   /   Swat   /   Gilgit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 /  MVP Architecture  /  Roadmap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Hotels run on paper, WhatsApp, and prayer.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5780" y="1828800"/>
            <a:ext cx="26060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" y="182880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2860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registers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5820" y="393192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guest data, and payments tracked in handwritten ledgers. No backup, no search, no audit trail.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60420" y="1828800"/>
            <a:ext cx="26060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60420" y="182880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28600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474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chaos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80460" y="393192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arrive across DMs and groups. Lost messages, overbookings, and disputes are routine.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5060" y="1828800"/>
            <a:ext cx="26060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5060" y="182880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0"/>
            <a:ext cx="822960" cy="8229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938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OTA re-entry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15100" y="393192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and Agoda reservations get re-typed into spreadsheets. Data silos. Inventory mismatches.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29700" y="1828800"/>
            <a:ext cx="26060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29700" y="182880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286000"/>
            <a:ext cx="822960" cy="8229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402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owner visibility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49740" y="393192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ad-hoc voice notes from managers. No consolidated view of revenue, cash, or occupancy.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A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competition isn't enterprise software — it's a WhatsApp group.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has no good answer.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4340" y="173736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737360"/>
            <a:ext cx="73152" cy="4114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2011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Cloud PMS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4380" y="2450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Cloudbeds, Mews, Oracle OPERA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816352"/>
            <a:ext cx="2971800" cy="0"/>
          </a:xfrm>
          <a:prstGeom prst="line">
            <a:avLst/>
          </a:prstGeom>
          <a:noFill/>
          <a:ln w="9525">
            <a:solidFill>
              <a:srgbClr val="DDDDD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00837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014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pricing unsustainable here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51129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0140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Urdu, no Roman Urdu input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01421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0140" y="3977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JazzCash / Easypaisa support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51713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20140" y="4480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FBR e-invoicing integration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02005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0140" y="4983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100+ room properties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274820" y="173736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274820" y="1737360"/>
            <a:ext cx="73152" cy="4114800"/>
          </a:xfrm>
          <a:prstGeom prst="rect">
            <a:avLst/>
          </a:prstGeom>
          <a:solidFill>
            <a:srgbClr val="C99344"/>
          </a:solidFill>
          <a:ln w="12700">
            <a:solidFill>
              <a:srgbClr val="C9934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594860" y="2011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Desktop Software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4594860" y="2450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9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Windows-only tools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594860" y="2816352"/>
            <a:ext cx="2971800" cy="0"/>
          </a:xfrm>
          <a:prstGeom prst="line">
            <a:avLst/>
          </a:prstGeom>
          <a:noFill/>
          <a:ln w="9525">
            <a:solidFill>
              <a:srgbClr val="DDDDD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300837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6062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Single-machine installs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580" y="3511296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60620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OTA integration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580" y="4014216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960620" y="3977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access</a:t>
            </a:r>
            <a:endParaRPr lang="en-US" sz="12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0580" y="4517136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960620" y="4480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pirated and resold</a:t>
            </a:r>
            <a:endParaRPr lang="en-US" sz="12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580" y="5020056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960620" y="4983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have moved on</a:t>
            </a:r>
            <a:endParaRPr lang="en-US" sz="1200" dirty="0"/>
          </a:p>
        </p:txBody>
      </p:sp>
      <p:sp>
        <p:nvSpPr>
          <p:cNvPr id="34" name="Shape 22"/>
          <p:cNvSpPr/>
          <p:nvPr/>
        </p:nvSpPr>
        <p:spPr>
          <a:xfrm>
            <a:off x="8115300" y="1737360"/>
            <a:ext cx="3611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8115300" y="1737360"/>
            <a:ext cx="73152" cy="4114800"/>
          </a:xfrm>
          <a:prstGeom prst="rect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8435340" y="2011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Spreadsheets + WhatsApp</a:t>
            </a:r>
            <a:endParaRPr lang="en-US" sz="1800" dirty="0"/>
          </a:p>
        </p:txBody>
      </p:sp>
      <p:sp>
        <p:nvSpPr>
          <p:cNvPr id="37" name="Text 25"/>
          <p:cNvSpPr/>
          <p:nvPr/>
        </p:nvSpPr>
        <p:spPr>
          <a:xfrm>
            <a:off x="8435340" y="2450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status quo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8435340" y="2816352"/>
            <a:ext cx="2971800" cy="0"/>
          </a:xfrm>
          <a:prstGeom prst="line">
            <a:avLst/>
          </a:prstGeom>
          <a:noFill/>
          <a:ln w="9525">
            <a:solidFill>
              <a:srgbClr val="DDDDD5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1060" y="3008376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801100" y="2971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integrity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1060" y="3511296"/>
            <a:ext cx="201168" cy="20116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801100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2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1060" y="4014216"/>
            <a:ext cx="201168" cy="20116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8801100" y="3977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lost daily</a:t>
            </a:r>
            <a:endParaRPr lang="en-US" sz="12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1060" y="4517136"/>
            <a:ext cx="201168" cy="20116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8801100" y="4480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Overbookings are weekly</a:t>
            </a:r>
            <a:endParaRPr lang="en-US" sz="12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1060" y="5020056"/>
            <a:ext cx="201168" cy="201168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8801100" y="4983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 whatsoever</a:t>
            </a:r>
            <a:endParaRPr lang="en-US" sz="1200" dirty="0"/>
          </a:p>
        </p:txBody>
      </p:sp>
      <p:sp>
        <p:nvSpPr>
          <p:cNvPr id="49" name="Text 3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50" name="Text 33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tourism economy without a software backbone.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73152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74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737360" y="2606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northern Pakistan tourism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19272"/>
            <a:ext cx="5029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319272"/>
            <a:ext cx="73152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30752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45643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20–80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173736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range of our target customer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901184"/>
            <a:ext cx="5029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4901184"/>
            <a:ext cx="73152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12664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03834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yr</a:t>
            </a:r>
            <a:endParaRPr lang="en-US" sz="4200" dirty="0"/>
          </a:p>
        </p:txBody>
      </p:sp>
      <p:sp>
        <p:nvSpPr>
          <p:cNvPr id="18" name="Text 13"/>
          <p:cNvSpPr/>
          <p:nvPr/>
        </p:nvSpPr>
        <p:spPr>
          <a:xfrm>
            <a:off x="1737360" y="57698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before well-funded entrants arrive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35040" y="1737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035040" y="2331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small hotels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35040" y="27432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opening monthly across Hunza, Skardu, Naran, Swat, and Gilgit.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035040" y="3611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tourism is structurally underserved.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35040" y="4023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PMS vendor has built specifically for this geography, language, and payment landscape.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35040" y="4892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wins this market.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035040" y="53035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distribution, regulatory integration, and trust take years to build — once we hold them, displacement is hard.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8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cloud-based PMS that replaces the notebook and the WhatsApp group with one trusted workspace.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71500" y="3749040"/>
            <a:ext cx="3520440" cy="2377440"/>
          </a:xfrm>
          <a:prstGeom prst="rect">
            <a:avLst/>
          </a:prstGeom>
          <a:solidFill>
            <a:srgbClr val="2E6B7D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374904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114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154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Manager-first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154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people who run the hotel every day — not for guests, not for chains.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0540" y="3749040"/>
            <a:ext cx="3520440" cy="2377440"/>
          </a:xfrm>
          <a:prstGeom prst="rect">
            <a:avLst/>
          </a:prstGeom>
          <a:solidFill>
            <a:srgbClr val="2E6B7D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20540" y="374904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41148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05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Pakistan-native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4058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input, JazzCash, FBR e-invoicing, and WhatsApp are first-class, not afterthoughts.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69580" y="3749040"/>
            <a:ext cx="3520440" cy="2377440"/>
          </a:xfrm>
          <a:prstGeom prst="rect">
            <a:avLst/>
          </a:prstGeom>
          <a:solidFill>
            <a:srgbClr val="2E6B7D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69580" y="3749040"/>
            <a:ext cx="73152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41148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96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Cloud, mobile-ready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8962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laptop at the front desk and a Rs 15,000 Android in housekeeping.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layers, plus a local compliance fabric.</a:t>
            </a:r>
            <a:endParaRPr lang="en-US" sz="3000" dirty="0"/>
          </a:p>
        </p:txBody>
      </p:sp>
      <p:pic>
        <p:nvPicPr>
          <p:cNvPr id="4" name="Image 0" descr="/home/claude/pms_doc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315200" cy="5266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764792"/>
            <a:ext cx="164592" cy="164592"/>
          </a:xfrm>
          <a:prstGeom prst="ellipse">
            <a:avLst/>
          </a:prstGeom>
          <a:solidFill>
            <a:srgbClr val="5499B7"/>
          </a:solidFill>
          <a:ln w="12700">
            <a:solidFill>
              <a:srgbClr val="5499B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21040" y="1938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21040" y="2258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manager, unified calendar, rate and inventory.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2907792"/>
            <a:ext cx="164592" cy="164592"/>
          </a:xfrm>
          <a:prstGeom prst="ellipse">
            <a:avLst/>
          </a:prstGeom>
          <a:solidFill>
            <a:srgbClr val="3D8B6E"/>
          </a:solidFill>
          <a:ln w="12700">
            <a:solidFill>
              <a:srgbClr val="3D8B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21040" y="3081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21040" y="3401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desk, unified inbox, housekeeping, POS, folio.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4050792"/>
            <a:ext cx="164592" cy="164592"/>
          </a:xfrm>
          <a:prstGeom prst="ellipse">
            <a:avLst/>
          </a:prstGeom>
          <a:solidFill>
            <a:srgbClr val="B89020"/>
          </a:solidFill>
          <a:ln w="12700">
            <a:solidFill>
              <a:srgbClr val="B89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321040" y="4224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21040" y="4544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audit log, owner dashboard, daily WhatsApp briefing.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5193792"/>
            <a:ext cx="164592" cy="164592"/>
          </a:xfrm>
          <a:prstGeom prst="ellipse">
            <a:avLst/>
          </a:prstGeom>
          <a:solidFill>
            <a:srgbClr val="C77641"/>
          </a:solidFill>
          <a:ln w="12700">
            <a:solidFill>
              <a:srgbClr val="C776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5120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21040" y="5367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fabric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5687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 OCR, JazzCash, FBR, WhatsApp, Urdu, thermal print.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PMS core, best-of-breed integrations.</a:t>
            </a:r>
            <a:endParaRPr lang="en-US" sz="3000" dirty="0"/>
          </a:p>
        </p:txBody>
      </p:sp>
      <p:pic>
        <p:nvPicPr>
          <p:cNvPr id="4" name="Image 0" descr="/home/claude/pms_doc/integ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680960" cy="5376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vs buy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95360" y="21488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build the channel manager. We integrate STAAH or SiteMinder as middleware and focus engineering on what's unique to this market.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 pattern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360" y="3977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system sits behind an adapter interface. Vendors can be swapped — STAAH today, direct Booking.com tomorrow — without touching core logic.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8 WEEKS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smallest product a manager will trust.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6916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" y="1691640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3020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calendar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302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room grid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4700" y="16916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4700" y="1691640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9659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7660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CNIC OCR check-in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3766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camera, auto-fill guest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9340" y="16916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9340" y="1691640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9659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2300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folio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7230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charges, payments ledger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83980" y="16916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83980" y="1691640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0" y="1965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06940" y="1947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of sale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80694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and services to folio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0060" y="3456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0060" y="3456432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730752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0302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inbox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303020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threaded by guest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14700" y="3456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314700" y="3456432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3730752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3766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briefing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137660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WhatsApp summary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49340" y="3456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149340" y="3456432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3730752"/>
            <a:ext cx="502920" cy="5029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7230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972300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status, monthly revenue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983980" y="3456432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983980" y="3456432"/>
            <a:ext cx="6400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2580" y="3730752"/>
            <a:ext cx="502920" cy="5029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80694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roles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806940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full audit log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BUILD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457200" y="5532120"/>
            <a:ext cx="2743200" cy="86868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64008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W1–2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640080" y="5916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room grid, data model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3291840" y="5532120"/>
            <a:ext cx="2743200" cy="86868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347472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W3–4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3474720" y="5916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Check-in/out, folio, POS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6126480" y="5532120"/>
            <a:ext cx="2743200" cy="86868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630936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W5–6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6309360" y="5916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inbox, owner briefing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8961120" y="5532120"/>
            <a:ext cx="2743200" cy="86868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9144000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W7–8</a:t>
            </a:r>
            <a:endParaRPr lang="en-US" sz="1300" dirty="0"/>
          </a:p>
        </p:txBody>
      </p:sp>
      <p:sp>
        <p:nvSpPr>
          <p:cNvPr id="56" name="Text 46"/>
          <p:cNvSpPr/>
          <p:nvPr/>
        </p:nvSpPr>
        <p:spPr>
          <a:xfrm>
            <a:off x="9144000" y="5916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roles, pilot deployment</a:t>
            </a:r>
            <a:endParaRPr lang="en-US" sz="1100" dirty="0"/>
          </a:p>
        </p:txBody>
      </p:sp>
      <p:sp>
        <p:nvSpPr>
          <p:cNvPr id="57" name="Text 4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owner's nightly WhatsApp briefing.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840480" cy="4572000"/>
          </a:xfrm>
          <a:prstGeom prst="roundRect">
            <a:avLst>
              <a:gd name="adj" fmla="val 5952"/>
            </a:avLst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ECE5DD"/>
          </a:solidFill>
          <a:ln w="12700">
            <a:solidFill>
              <a:srgbClr val="ECE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11680"/>
            <a:ext cx="347472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305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Assistant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2286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11:00 PM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88720" y="269748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25880" y="283464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evening, Sahib.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 — 16 May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Occupancy:  </a:t>
            </a:r>
            <a:pPr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 (32 / 38)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</a:t>
            </a:r>
            <a:pPr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218,400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drawer:  </a:t>
            </a:r>
            <a:pPr indent="0" marL="0">
              <a:buNone/>
            </a:pPr>
            <a:r>
              <a:rPr lang="en-US" sz="1000" b="1" dirty="0">
                <a:solidFill>
                  <a:srgbClr val="5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(no variance)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arrivals · 5 departures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group booking (Karachi, 6 rooms)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204 dirty 6 hrs — chase HK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#4521 advance overdue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17830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feature wins.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0" y="2468880"/>
            <a:ext cx="411480" cy="411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80760" y="245059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is the buyer.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80760" y="278892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based in Islamabad or Karachi, not on site. This message is what they see every night before sleep.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3474720"/>
            <a:ext cx="411480" cy="411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80760" y="345643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can't sabotage it.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80760" y="379476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automated. Managers who skim cash or under-report cannot quietly disable transparency.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0" y="4480560"/>
            <a:ext cx="411480" cy="411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80760" y="446227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itself through WhatsApp.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080760" y="480060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forward it to other owners in their group chats. The product spreads through the buyer's natural channel.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0" y="5486400"/>
            <a:ext cx="411480" cy="411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080760" y="546811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daily habit.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080760" y="580644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accurate nightly message reinforces trust. The subscription renews itself.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wedge, ecosystem expansion.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73152" cy="4572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SUBSCRIPTION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revenue: SaaS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per-property subscription, priced in PKR and tiered by room count. Annual billing offered at a discount to smooth seasonality.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81304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rooms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31596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4206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– 50 rooms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1888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4709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– 80 rooms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setup &amp; onboarding fees, channel manager reselling margin, WhatsApp Business API reselling.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54406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691640"/>
            <a:ext cx="73152" cy="4572000"/>
          </a:xfrm>
          <a:prstGeom prst="rect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965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&amp; 3  ·  EXPANSION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margin lives</a:t>
            </a:r>
            <a:endParaRPr lang="en-US" sz="2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926080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95160" y="2834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take-rate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95160" y="3127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0.5–1% on transactions processed through JazzCash, Easypaisa, and bank rails.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70332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agent marketplace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995160" y="39044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transaction fee on inventory booked through the agent portal.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80560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95160" y="43891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data products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995160" y="46817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occupancy and demand data sold to tourism boards and ecosystem partners.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257800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95160" y="5166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financial services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995160" y="5458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revenue from microfinance partners offering working capital to hotels.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are copyable. The moat is not.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2148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distribution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Boots-on-ground onboarding in Hunza, Skardu, and Naran. Foreign players won't send a PM to Karimabad. This is the single biggest moat.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691640"/>
            <a:ext cx="73152" cy="2148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agent network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platform where Karachi and Lahore agents book inventory directly. Once 200 agents are on the platform, hotels cannot leave.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4023360"/>
            <a:ext cx="73152" cy="2148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8912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43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integration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37360" y="480060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 e-invoicing certification, KP and GB Tourism Department approvals, provincial revenue authority compliance. Years to replicate.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4023360"/>
            <a:ext cx="73152" cy="2148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8912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43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network effects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60920" y="480060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Cross-property guest blacklist, demand forecasting from regional booking data, anonymized benchmarks. Sticky as the network grows.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A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NOT the moat:  features, design, price. All copyable within 6 months.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in Hunza. Scale across the north. Expand.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36576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91640"/>
            <a:ext cx="73152" cy="4297680"/>
          </a:xfrm>
          <a:prstGeom prst="rect">
            <a:avLst/>
          </a:prstGeom>
          <a:solidFill>
            <a:srgbClr val="D87A6E"/>
          </a:solidFill>
          <a:ln w="12700">
            <a:solidFill>
              <a:srgbClr val="D8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design-partner hotels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3017520" cy="0"/>
          </a:xfrm>
          <a:prstGeom prst="line">
            <a:avLst/>
          </a:prstGeom>
          <a:noFill/>
          <a:ln w="9525">
            <a:solidFill>
              <a:srgbClr val="DDD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93592"/>
            <a:ext cx="109728" cy="109728"/>
          </a:xfrm>
          <a:prstGeom prst="ellipse">
            <a:avLst/>
          </a:prstGeom>
          <a:solidFill>
            <a:srgbClr val="D87A6E"/>
          </a:solidFill>
          <a:ln w="12700">
            <a:solidFill>
              <a:srgbClr val="D8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Hunza and Skardu first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96512"/>
            <a:ext cx="109728" cy="109728"/>
          </a:xfrm>
          <a:prstGeom prst="ellipse">
            <a:avLst/>
          </a:prstGeom>
          <a:solidFill>
            <a:srgbClr val="D87A6E"/>
          </a:solidFill>
          <a:ln w="12700">
            <a:solidFill>
              <a:srgbClr val="D8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77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in exchange for weekly feedback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599432"/>
            <a:ext cx="109728" cy="109728"/>
          </a:xfrm>
          <a:prstGeom prst="ellipse">
            <a:avLst/>
          </a:prstGeom>
          <a:solidFill>
            <a:srgbClr val="D87A6E"/>
          </a:solidFill>
          <a:ln w="12700">
            <a:solidFill>
              <a:srgbClr val="D8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personally drives, sets up, trains staff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102352"/>
            <a:ext cx="109728" cy="109728"/>
          </a:xfrm>
          <a:prstGeom prst="ellipse">
            <a:avLst/>
          </a:prstGeom>
          <a:solidFill>
            <a:srgbClr val="D87A6E"/>
          </a:solidFill>
          <a:ln w="12700">
            <a:solidFill>
              <a:srgbClr val="D87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product iteration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1691640"/>
            <a:ext cx="36576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691640"/>
            <a:ext cx="73152" cy="4297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growth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paying properties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3291840"/>
            <a:ext cx="3017520" cy="0"/>
          </a:xfrm>
          <a:prstGeom prst="line">
            <a:avLst/>
          </a:prstGeom>
          <a:noFill/>
          <a:ln w="9525">
            <a:solidFill>
              <a:srgbClr val="DDD8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593592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Naran, Swat, Gilgit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4096512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977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in-region CS lead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4599432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travel agent portal beta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5102352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 certification, payment integration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1691640"/>
            <a:ext cx="36576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1691640"/>
            <a:ext cx="73152" cy="4297680"/>
          </a:xfrm>
          <a:prstGeom prst="rect">
            <a:avLst/>
          </a:prstGeom>
          <a:solidFill>
            <a:srgbClr val="8A3A2F"/>
          </a:solidFill>
          <a:ln w="12700">
            <a:solidFill>
              <a:srgbClr val="8A3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5820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45820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properties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58200" y="3291840"/>
            <a:ext cx="3017520" cy="0"/>
          </a:xfrm>
          <a:prstGeom prst="line">
            <a:avLst/>
          </a:prstGeom>
          <a:noFill/>
          <a:ln w="9525">
            <a:solidFill>
              <a:srgbClr val="DDD8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0" y="3593592"/>
            <a:ext cx="109728" cy="109728"/>
          </a:xfrm>
          <a:prstGeom prst="ellipse">
            <a:avLst/>
          </a:prstGeom>
          <a:solidFill>
            <a:srgbClr val="8A3A2F"/>
          </a:solidFill>
          <a:ln w="12700">
            <a:solidFill>
              <a:srgbClr val="8A3A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Murree, Hyderabad, Bahawalpur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096512"/>
            <a:ext cx="109728" cy="109728"/>
          </a:xfrm>
          <a:prstGeom prst="ellipse">
            <a:avLst/>
          </a:prstGeom>
          <a:solidFill>
            <a:srgbClr val="8A3A2F"/>
          </a:solidFill>
          <a:ln w="12700">
            <a:solidFill>
              <a:srgbClr val="8A3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3977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travel agent marketplace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03920" y="4599432"/>
            <a:ext cx="109728" cy="109728"/>
          </a:xfrm>
          <a:prstGeom prst="ellipse">
            <a:avLst/>
          </a:prstGeom>
          <a:solidFill>
            <a:srgbClr val="8A3A2F"/>
          </a:solidFill>
          <a:ln w="12700">
            <a:solidFill>
              <a:srgbClr val="8A3A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4480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 partnerships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03920" y="5102352"/>
            <a:ext cx="109728" cy="109728"/>
          </a:xfrm>
          <a:prstGeom prst="ellipse">
            <a:avLst/>
          </a:prstGeom>
          <a:solidFill>
            <a:srgbClr val="8A3A2F"/>
          </a:solidFill>
          <a:ln w="12700">
            <a:solidFill>
              <a:srgbClr val="8A3A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3252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AJK, Balochistan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931920" y="3520440"/>
            <a:ext cx="4114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5204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818120" y="3520440"/>
            <a:ext cx="4114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35204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PMS to tourism operating 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691640"/>
            <a:ext cx="2697480" cy="1143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8346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8 WEEKS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0756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" y="321868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&amp; calendar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" y="376732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&amp; POS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431596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inbox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" y="486460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briefing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00984" y="1691640"/>
            <a:ext cx="2697480" cy="1143000"/>
          </a:xfrm>
          <a:prstGeom prst="rect">
            <a:avLst/>
          </a:prstGeom>
          <a:solidFill>
            <a:srgbClr val="C99344"/>
          </a:solidFill>
          <a:ln w="12700">
            <a:solidFill>
              <a:srgbClr val="C993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0984" y="28346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864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 3–9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83864" y="20756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depth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529584" y="3218688"/>
            <a:ext cx="164592" cy="164592"/>
          </a:xfrm>
          <a:prstGeom prst="ellipse">
            <a:avLst/>
          </a:prstGeom>
          <a:solidFill>
            <a:srgbClr val="C99344"/>
          </a:solidFill>
          <a:ln w="12700">
            <a:solidFill>
              <a:srgbClr val="C99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mobile app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29584" y="3767328"/>
            <a:ext cx="164592" cy="164592"/>
          </a:xfrm>
          <a:prstGeom prst="ellipse">
            <a:avLst/>
          </a:prstGeom>
          <a:solidFill>
            <a:srgbClr val="C99344"/>
          </a:solidFill>
          <a:ln w="12700">
            <a:solidFill>
              <a:srgbClr val="C993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tickets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9584" y="4315968"/>
            <a:ext cx="164592" cy="164592"/>
          </a:xfrm>
          <a:prstGeom prst="ellipse">
            <a:avLst/>
          </a:prstGeom>
          <a:solidFill>
            <a:srgbClr val="C99344"/>
          </a:solidFill>
          <a:ln w="12700">
            <a:solidFill>
              <a:srgbClr val="C993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29584" y="4864608"/>
            <a:ext cx="164592" cy="164592"/>
          </a:xfrm>
          <a:prstGeom prst="ellipse">
            <a:avLst/>
          </a:prstGeom>
          <a:solidFill>
            <a:srgbClr val="C99344"/>
          </a:solidFill>
          <a:ln w="12700">
            <a:solidFill>
              <a:srgbClr val="C993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reporting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63056" y="1691640"/>
            <a:ext cx="2697480" cy="1143000"/>
          </a:xfrm>
          <a:prstGeom prst="rect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28346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 9–15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0756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optimization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391656" y="3218688"/>
            <a:ext cx="164592" cy="164592"/>
          </a:xfrm>
          <a:prstGeom prst="ellipse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65976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91656" y="3767328"/>
            <a:ext cx="164592" cy="164592"/>
          </a:xfrm>
          <a:prstGeom prst="ellipse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65976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OTA integrations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91656" y="4315968"/>
            <a:ext cx="164592" cy="164592"/>
          </a:xfrm>
          <a:prstGeom prst="ellipse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engine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91656" y="4864608"/>
            <a:ext cx="164592" cy="164592"/>
          </a:xfrm>
          <a:prstGeom prst="ellipse">
            <a:avLst/>
          </a:prstGeom>
          <a:solidFill>
            <a:srgbClr val="2E6B7D"/>
          </a:solidFill>
          <a:ln w="12700">
            <a:solidFill>
              <a:srgbClr val="2E6B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65976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25128" y="1691640"/>
            <a:ext cx="2697480" cy="114300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5128" y="28346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08008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 12–24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08008" y="20756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&amp; platform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9253728" y="3218688"/>
            <a:ext cx="164592" cy="164592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28048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253728" y="3767328"/>
            <a:ext cx="164592" cy="164592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28048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data products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253728" y="4315968"/>
            <a:ext cx="164592" cy="164592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28048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53728" y="4864608"/>
            <a:ext cx="164592" cy="164592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28048" y="4754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vision:  </a:t>
            </a:r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of Pakistan's tourism economy.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264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8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unserved market.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solo competitor: paper.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8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3–5 year window.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PMS startups die from feature sprawl before they learn what users need. We ship a small, sharp 8-week MVP into real hotels in northern Pakistan, then iterate from real usage — not imagined requirements.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it.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 /  Investor Concept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6492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PMS — Investor Pitch</dc:title>
  <dc:subject>PptxGenJS Presentation</dc:subject>
  <dc:creator>Hotel PMS Team</dc:creator>
  <cp:lastModifiedBy>Hotel PMS Team</cp:lastModifiedBy>
  <cp:revision>1</cp:revision>
  <dcterms:created xsi:type="dcterms:W3CDTF">2026-05-17T08:55:54Z</dcterms:created>
  <dcterms:modified xsi:type="dcterms:W3CDTF">2026-05-17T08:55:54Z</dcterms:modified>
</cp:coreProperties>
</file>